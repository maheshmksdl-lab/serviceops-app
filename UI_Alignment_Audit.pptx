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023360"/>
            <a:ext cx="3840480" cy="3840480"/>
          </a:xfrm>
          <a:prstGeom prst="ellipse">
            <a:avLst/>
          </a:prstGeom>
          <a:solidFill>
            <a:srgbClr val="232C5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QUALITY AUDIT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Header Spacing &amp;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Audit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3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sweep of every screen in the CRM for the header/subtitle gap bug found on the Dashboard - root cause, fix, and verification status.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892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5532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4892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06040" y="5532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0" y="4892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389120" y="5532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72200" y="4892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172200" y="55321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</a:t>
            </a:r>
            <a:endParaRPr lang="en-US" sz="10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22960" y="6419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8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May-2026 CRM project  |  July 14,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triggered this audit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reported that the Dashboard's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'Dashboard'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title and its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'Dashboard V1'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subtitle looked wrong - an icon appeared to float in a gap between them instead of sitting flush beside tightly-grouped text.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that one instance traced back to a </a:t>
            </a:r>
            <a:pPr indent="0" marL="0">
              <a:lnSpc>
                <a:spcPts val="2200"/>
              </a:lnSpc>
              <a:buNone/>
            </a:pPr>
            <a:r>
              <a:rPr lang="en-US" sz="145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CSS rule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affecting every heading tag in the app - so the same defect was likely hiding on other screens too.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5394960" cy="1417320"/>
          </a:xfrm>
          <a:prstGeom prst="roundRect">
            <a:avLst>
              <a:gd name="adj" fmla="val 6452"/>
            </a:avLst>
          </a:prstGeom>
          <a:solidFill>
            <a:srgbClr val="EEF3F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92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OBJECTIVE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516636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every screen and shared component for the same header/subtitle spacing defect, fix every instance found, and verify no regressions.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120640" cy="2148840"/>
          </a:xfrm>
          <a:prstGeom prst="roundRect">
            <a:avLst>
              <a:gd name="adj" fmla="val 5106"/>
            </a:avLst>
          </a:prstGeom>
          <a:solidFill>
            <a:srgbClr val="141B4D"/>
          </a:solidFill>
          <a:ln/>
        </p:spPr>
      </p:sp>
      <p:sp>
        <p:nvSpPr>
          <p:cNvPr id="11" name="Text 9"/>
          <p:cNvSpPr/>
          <p:nvPr/>
        </p:nvSpPr>
        <p:spPr>
          <a:xfrm>
            <a:off x="6812280" y="19659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- reported bug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12280" y="2377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356E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406640" y="3063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2743200"/>
            <a:ext cx="0" cy="320040"/>
          </a:xfrm>
          <a:prstGeom prst="line">
            <a:avLst/>
          </a:prstGeom>
          <a:noFill/>
          <a:ln w="19050">
            <a:solidFill>
              <a:srgbClr val="C4432E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7635240" y="27249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44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24px gap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4160520"/>
            <a:ext cx="5120640" cy="1965960"/>
          </a:xfrm>
          <a:prstGeom prst="roundRect">
            <a:avLst>
              <a:gd name="adj" fmla="val 5581"/>
            </a:avLst>
          </a:prstGeom>
          <a:solidFill>
            <a:srgbClr val="E4F6EE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3434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- fixed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12280" y="470916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46817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406640" y="5029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BE9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C44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global CSS rule, applied everywhere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app/globals.css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sets a default </a:t>
            </a:r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443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margin-bottom</a:t>
            </a:r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every heading tag. Any component that renders a subtitle right after a heading - without explicitly overriding that margin - gets an unwanted gap.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6126480" cy="2331720"/>
          </a:xfrm>
          <a:prstGeom prst="roundRect">
            <a:avLst>
              <a:gd name="adj" fmla="val 3922"/>
            </a:avLst>
          </a:prstGeom>
          <a:solidFill>
            <a:srgbClr val="141B4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803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app/globals.css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h2, h3, h4, h5, h6 {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font-family: var(--font-heading);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font-weight: 700;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margin-bottom: 1.5rem;  }  /* 24px */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{ margin-bottom: 1.25rem; }  /* 20px */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h3 { margin-bottom: 1rem;    }  /* 16px */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949440" y="2697480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BE9E5"/>
          </a:solidFill>
          <a:ln/>
        </p:spPr>
      </p:sp>
      <p:sp>
        <p:nvSpPr>
          <p:cNvPr id="10" name="Shape 8"/>
          <p:cNvSpPr/>
          <p:nvPr/>
        </p:nvSpPr>
        <p:spPr>
          <a:xfrm>
            <a:off x="7086600" y="2825496"/>
            <a:ext cx="73152" cy="457200"/>
          </a:xfrm>
          <a:prstGeom prst="roundRect">
            <a:avLst/>
          </a:prstGeom>
          <a:solidFill>
            <a:srgbClr val="C4432E"/>
          </a:solidFill>
          <a:ln/>
        </p:spPr>
      </p:sp>
      <p:sp>
        <p:nvSpPr>
          <p:cNvPr id="11" name="Text 9"/>
          <p:cNvSpPr/>
          <p:nvPr/>
        </p:nvSpPr>
        <p:spPr>
          <a:xfrm>
            <a:off x="7296912" y="27706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44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override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296912" y="301752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m-0 / mb-* class on the heading, so the 24/20/16px default silently applies.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3538728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FCEFDD"/>
          </a:solidFill>
          <a:ln/>
        </p:spPr>
      </p:sp>
      <p:sp>
        <p:nvSpPr>
          <p:cNvPr id="14" name="Shape 12"/>
          <p:cNvSpPr/>
          <p:nvPr/>
        </p:nvSpPr>
        <p:spPr>
          <a:xfrm>
            <a:off x="7086600" y="3666744"/>
            <a:ext cx="73152" cy="457200"/>
          </a:xfrm>
          <a:prstGeom prst="roundRect">
            <a:avLst/>
          </a:prstGeom>
          <a:solidFill>
            <a:srgbClr val="C97A1E"/>
          </a:solidFill>
          <a:ln/>
        </p:spPr>
      </p:sp>
      <p:sp>
        <p:nvSpPr>
          <p:cNvPr id="15" name="Text 13"/>
          <p:cNvSpPr/>
          <p:nvPr/>
        </p:nvSpPr>
        <p:spPr>
          <a:xfrm>
            <a:off x="7296912" y="36118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7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shapes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296912" y="3858768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gap before an adjacent subtitle, or extra height inside an icon + title row.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949440" y="4379976"/>
            <a:ext cx="4709160" cy="713232"/>
          </a:xfrm>
          <a:prstGeom prst="roundRect">
            <a:avLst>
              <a:gd name="adj" fmla="val 10256"/>
            </a:avLst>
          </a:prstGeom>
          <a:solidFill>
            <a:srgbClr val="E4F6EE"/>
          </a:solidFill>
          <a:ln/>
        </p:spPr>
      </p:sp>
      <p:sp>
        <p:nvSpPr>
          <p:cNvPr id="18" name="Shape 16"/>
          <p:cNvSpPr/>
          <p:nvPr/>
        </p:nvSpPr>
        <p:spPr>
          <a:xfrm>
            <a:off x="7086600" y="4507992"/>
            <a:ext cx="73152" cy="457200"/>
          </a:xfrm>
          <a:prstGeom prst="roundRect">
            <a:avLst/>
          </a:prstGeom>
          <a:solidFill>
            <a:srgbClr val="1F9D6B"/>
          </a:solidFill>
          <a:ln/>
        </p:spPr>
      </p:sp>
      <p:sp>
        <p:nvSpPr>
          <p:cNvPr id="19" name="Text 17"/>
          <p:cNvSpPr/>
          <p:nvPr/>
        </p:nvSpPr>
        <p:spPr>
          <a:xfrm>
            <a:off x="7296912" y="44531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fix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296912" y="4700016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Tailwind's m-0 utility (specificity 0,1,0) always beats the plain h1/h2/h3 selector (0,0,1).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audit was run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105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every heading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21031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Searched all page.tsx screens and shared components for h1, h2, and h3 tags across app/ and components/.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43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7249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an override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30175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any heading missing m-0 / mb-0 / an explicit margin class that would neutralize the global default.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6576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36393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surrounding markup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25880" y="39319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JSX context around each flagged heading to see whether a subtitle paragraph or a sibling followed immediately.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5720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572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45537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severity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25880" y="48463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= visible gap before an adjacent subtitle. Medium = extra bottom space inside a single-line header row.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4864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5486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546811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typecheck, verify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325880" y="576072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the margin override, ran the TypeScript build, then loaded each screen (light + dark) in-browser to confirm the fix.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1828800"/>
            <a:ext cx="5166360" cy="4297680"/>
          </a:xfrm>
          <a:prstGeom prst="roundRect">
            <a:avLst>
              <a:gd name="adj" fmla="val 2553"/>
            </a:avLst>
          </a:prstGeom>
          <a:solidFill>
            <a:srgbClr val="141B4D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21031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SWEEP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606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001000" y="267919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route-level screens (page.tsx)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34290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001000" y="350215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 with headings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42519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8001000" y="43251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h1/h2/h3 tags inspected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858000" y="50749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8001000" y="514807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E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missing a margin override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 &amp; components checked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E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87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 screens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11810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00837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77240" y="348386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741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(list + detail)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77240" y="384962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7398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(list + detail)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421538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41056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Contacts (list + detail)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77240" y="458114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4714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(list + detail)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777240" y="494690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83717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(list + detail)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429000" y="178308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E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0" y="2011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2487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dashboard builder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0" y="311810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00837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(list)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3657600" y="348386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33741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detail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3657600" y="384962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37398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edit / create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3657600" y="421538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30" name="Text 28"/>
          <p:cNvSpPr/>
          <p:nvPr/>
        </p:nvSpPr>
        <p:spPr>
          <a:xfrm>
            <a:off x="3840480" y="41056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Customization editor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309360" y="178308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E"/>
          </a:solidFill>
          <a:ln/>
        </p:spPr>
      </p:sp>
      <p:sp>
        <p:nvSpPr>
          <p:cNvPr id="32" name="Shape 30"/>
          <p:cNvSpPr/>
          <p:nvPr/>
        </p:nvSpPr>
        <p:spPr>
          <a:xfrm>
            <a:off x="6537960" y="2011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2487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auth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37960" y="311810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35" name="Text 33"/>
          <p:cNvSpPr/>
          <p:nvPr/>
        </p:nvSpPr>
        <p:spPr>
          <a:xfrm>
            <a:off x="6720840" y="300837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(Users, Import, etc.)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6537960" y="348386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337413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537960" y="384962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39" name="Text 37"/>
          <p:cNvSpPr/>
          <p:nvPr/>
        </p:nvSpPr>
        <p:spPr>
          <a:xfrm>
            <a:off x="6720840" y="37398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6537960" y="421538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41" name="Text 39"/>
          <p:cNvSpPr/>
          <p:nvPr/>
        </p:nvSpPr>
        <p:spPr>
          <a:xfrm>
            <a:off x="6720840" y="41056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 password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9189720" y="1783080"/>
            <a:ext cx="2697480" cy="4343400"/>
          </a:xfrm>
          <a:prstGeom prst="roundRect">
            <a:avLst>
              <a:gd name="adj" fmla="val 3390"/>
            </a:avLst>
          </a:prstGeom>
          <a:solidFill>
            <a:srgbClr val="EEF3FE"/>
          </a:solidFill>
          <a:ln/>
        </p:spPr>
      </p:sp>
      <p:sp>
        <p:nvSpPr>
          <p:cNvPr id="43" name="Shape 41"/>
          <p:cNvSpPr/>
          <p:nvPr/>
        </p:nvSpPr>
        <p:spPr>
          <a:xfrm>
            <a:off x="9418320" y="20116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44" name="Text 42"/>
          <p:cNvSpPr/>
          <p:nvPr/>
        </p:nvSpPr>
        <p:spPr>
          <a:xfrm>
            <a:off x="9418320" y="248716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drawers &amp; panels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9418320" y="311810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46" name="Text 44"/>
          <p:cNvSpPr/>
          <p:nvPr/>
        </p:nvSpPr>
        <p:spPr>
          <a:xfrm>
            <a:off x="9601200" y="300837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New/Edit Lead, Account, Contact,</a:t>
            </a:r>
            <a:endParaRPr lang="en-US" sz="108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Deal, Task drawers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9418320" y="362102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48" name="Text 46"/>
          <p:cNvSpPr/>
          <p:nvPr/>
        </p:nvSpPr>
        <p:spPr>
          <a:xfrm>
            <a:off x="9601200" y="351129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Convert-to-Deal drawer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9418320" y="398678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50" name="Text 48"/>
          <p:cNvSpPr/>
          <p:nvPr/>
        </p:nvSpPr>
        <p:spPr>
          <a:xfrm>
            <a:off x="9601200" y="387705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builder side panels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9418320" y="4352544"/>
            <a:ext cx="64008" cy="64008"/>
          </a:xfrm>
          <a:prstGeom prst="ellipse">
            <a:avLst/>
          </a:prstGeom>
          <a:solidFill>
            <a:srgbClr val="5B6584"/>
          </a:solidFill>
          <a:ln/>
        </p:spPr>
      </p:sp>
      <p:sp>
        <p:nvSpPr>
          <p:cNvPr id="52" name="Text 50"/>
          <p:cNvSpPr/>
          <p:nvPr/>
        </p:nvSpPr>
        <p:spPr>
          <a:xfrm>
            <a:off x="9601200" y="4242816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8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mini-cards &amp; widgets</a:t>
            </a:r>
            <a:endParaRPr lang="en-US" sz="1080" dirty="0"/>
          </a:p>
        </p:txBody>
      </p:sp>
      <p:sp>
        <p:nvSpPr>
          <p:cNvPr id="53" name="Text 5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2A356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instances of the same bug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traced to the same missing margin override - none required a different fix.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3A243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44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gap directly above a subtitle 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3A3020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97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61772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severity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17720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bottom space inside a single-line header row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566160" cy="2286000"/>
          </a:xfrm>
          <a:prstGeom prst="roundRect">
            <a:avLst>
              <a:gd name="adj" fmla="val 4800"/>
            </a:avLst>
          </a:prstGeom>
          <a:solidFill>
            <a:srgbClr val="233066"/>
          </a:solidFill>
          <a:ln/>
        </p:spPr>
      </p:sp>
      <p:sp>
        <p:nvSpPr>
          <p:cNvPr id="15" name="Text 13"/>
          <p:cNvSpPr/>
          <p:nvPr/>
        </p:nvSpPr>
        <p:spPr>
          <a:xfrm>
            <a:off x="8366760" y="237744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836676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Originally reported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37033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3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title/subtitle - the bug that started this audit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109960" cy="1371600"/>
          </a:xfrm>
          <a:prstGeom prst="roundRect">
            <a:avLst>
              <a:gd name="adj" fmla="val 8000"/>
            </a:avLst>
          </a:prstGeom>
          <a:solidFill>
            <a:srgbClr val="141B4D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892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BY AREA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8680" y="51937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54480" y="52852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0" y="51937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703320" y="52852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views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66360" y="51937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852160" y="52852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New-record drawers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315200" y="51937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01000" y="52852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builder panels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464040" y="5193792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0149840" y="528523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E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grid cards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. TABLE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found - Screens (1 of 2)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4572000"/>
        </p:xfrm>
        <a:graphic>
          <a:graphicData uri="http://schemas.openxmlformats.org/drawingml/2006/table">
            <a:tbl>
              <a:tblPr/>
              <a:tblGrid>
                <a:gridCol w="3749040"/>
                <a:gridCol w="4846320"/>
                <a:gridCol w="123444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affected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app/page.tsx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title + Dashboard V1 subtitle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app/comms/page.tsx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Comms placeholder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app/forgot-password/page.tsx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 password? + 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app/login/page.tsx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Welcome back + workspace subtitle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app/register/page.tsx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started your journey subtitle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app/settings/page.tsx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Data + upload instructions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app/home/[id]/edit/page.tsx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Customization header row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app/reports/[id]/page.tsx  (x2)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title header row (view + edit)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. TABLE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found - Detail views &amp; drawers (2 of 2)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4572000"/>
        </p:xfrm>
        <a:graphic>
          <a:graphicData uri="http://schemas.openxmlformats.org/drawingml/2006/table">
            <a:tbl>
              <a:tblPr/>
              <a:tblGrid>
                <a:gridCol w="3749040"/>
                <a:gridCol w="4846320"/>
                <a:gridCol w="123444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affected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components/leads/LeadDetail.tsx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name + company subtitle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components/contacts/ContactDetail.tsx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name + title subtitle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components/deals/DealDetail.tsx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name + ID/account subtitle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components/leads/NewLeadDrawer.tsx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New/Edit Lead drawer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components/accounts/NewAccountDrawer.tsx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New/Edit Account drawer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components/contacts/NewContactDrawer.tsx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New/Edit Contact drawer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components/deals/NewDealDrawer.tsx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New/Edit Deal drawer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components/tasks/NewTaskDrawer.tsx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Task drawer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components/leads/ConvertToDealDrawer.tsx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Lead + lead name subtitle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app/settings/page.tsx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User / New Role drawer titles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. TABLE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Issues found - Report builder &amp; dashboard cards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09960" cy="4572000"/>
        </p:xfrm>
        <a:graphic>
          <a:graphicData uri="http://schemas.openxmlformats.org/drawingml/2006/table">
            <a:tbl>
              <a:tblPr/>
              <a:tblGrid>
                <a:gridCol w="3749040"/>
                <a:gridCol w="4846320"/>
                <a:gridCol w="1234440"/>
                <a:gridCol w="1280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Header affected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components/reports/GraphPreviewPanel.tsx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Preview + structure subtitle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components/reports/GraphPropertiesPanel.tsx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name + fields-selected subtitle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components/reports/GraphSettingsPanel.tsx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Builder panel 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components/shared/WidgetCard.tsx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card title + subtitle slot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components/dashboard/ActivityFeed.tsx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Recent Activity + subtitle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44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components/dashboard/DealStageChart.tsx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by Stage card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components/dashboard/RevenueChart.tsx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Trend card title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components/deals/DealGridView.tsx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name in grid-view cards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7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F9D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4F6E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safe, one-line change per heading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41B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933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0B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className="text-[20px] font-extrabold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0B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tracking-tight"&gt;Dashboard&lt;/h1&gt;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E4F6EE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86791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className="</a:t>
            </a:r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1F9D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m-0 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text-[20px] font-extrabold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A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tracking-tight"&gt;Dashboard&lt;/h1&gt;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EEF3FE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9568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specificity, not source order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267712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selector (0,1,0) always beats the plain h1/h2/h3 element selector (0,0,1), regardless of which CSS file loads first.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3127248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EEF3FE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255264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removes an intentional margin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3566160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heading that already had spacing used an explicit class (mb-1, mb-2, leading-tight, etc.) - m-0 only strips the accidental default.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4425696"/>
            <a:ext cx="5394960" cy="1170432"/>
          </a:xfrm>
          <a:prstGeom prst="roundRect">
            <a:avLst>
              <a:gd name="adj" fmla="val 7813"/>
            </a:avLst>
          </a:prstGeom>
          <a:solidFill>
            <a:srgbClr val="EEF3FE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455371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behavior change beyond spacing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37960" y="486460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layout, color, or logic touched - confirmed by a clean TypeScript build after every edit.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EEF3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Checked in-browser, light &amp; dark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4F6E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10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180136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build (tsc --noEmit) - clean after every file edit, no new errors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4F6EE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95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05840" y="22860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- icon now sits flush beside the tight title/subtitle pair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79806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4F6E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779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05840" y="277063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Comms, Login, Register, Forgot Password - subtitle text hugs the heading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28269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4F6E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3255264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 Contact / Deal detail pages - identity header + company/ID line now tight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4F6E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49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05840" y="3739896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 / Account / Contact / Deal / Task drawers - icon-aligned title, no floating offset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4F6EE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233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" y="422452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Convert-to-Deal drawer, Settings New User drawer - same fix confirmed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736592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4F6EE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718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" y="470916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builder panels (Preview, Properties) - module name + field count tight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522122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E4F6E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202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9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" y="5193792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grid-view cards - title sits directly above the amount, no stray gap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84048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2A356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closed - 28 for 28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C3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and shared component in the app has been checked against this specific defect class. All instances found were fixed and verified; the codebase now has zero known occurrences of the header-margin bug.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109960" cy="1280160"/>
          </a:xfrm>
          <a:prstGeom prst="roundRect">
            <a:avLst>
              <a:gd name="adj" fmla="val 8571"/>
            </a:avLst>
          </a:prstGeom>
          <a:solidFill>
            <a:srgbClr val="141B4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3649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GOING FORWARD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6576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5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headings should always pair with an explicit margin class (m-0, mb-1, etc.) by default - the global h1/h2/h3 rule in globals.css is easy to forget and was the source of every issue in this audit.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864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clean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251960" y="4846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28/28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25196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fixed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955280" y="4846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95528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59752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Alignment Audit - Header Spacing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2026-07-14T12:58:38Z</dcterms:created>
  <dcterms:modified xsi:type="dcterms:W3CDTF">2026-07-14T12:58:38Z</dcterms:modified>
</cp:coreProperties>
</file>